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Paralelismo en SQL Server y Orquestador en C#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Diagramas de paralelismo vertical, horizontal y arquitectura combinada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Paralelismo vertical: SQL divide una consulta en múltiples threads</a:t>
            </a:r>
          </a:p>
          <a:p>
            <a:pPr/>
            <a:r>
              <a:t>Paralelismo horizontal: C# ejecuta múltiples consultas simultáneamente</a:t>
            </a:r>
          </a:p>
          <a:p>
            <a:pPr/>
            <a:r>
              <a:t>SOS Scheduler controla paralelismo en SQL Server</a:t>
            </a:r>
          </a:p>
          <a:p>
            <a:pPr/>
            <a:r>
              <a:t>ThreadPool controla paralelismo en C#</a:t>
            </a:r>
          </a:p>
          <a:p>
            <a:pPr/>
            <a:r>
              <a:t>Windows Scheduler asigna threads a CPUs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Diagrama: Paralelismo Vertical (SQL Server)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457200"/>
            <a:ext cx="2743200" cy="731520"/>
          </a:xfrm>
          <a:prstGeom prst="roundRect">
            <a:avLst/>
          </a:prstGeom>
          <a:solidFill>
            <a:srgbClr val="B4DC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Consulta 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828800" cy="73152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Worker Thread 1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1828800" y="1188720"/>
            <a:ext cx="2743200" cy="640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0" y="1828800"/>
            <a:ext cx="1828800" cy="73152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Worker Thread 2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4114800" y="1188720"/>
            <a:ext cx="457200" cy="640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0" y="1828800"/>
            <a:ext cx="1828800" cy="73152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Worker Thread 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1188720"/>
            <a:ext cx="1828800" cy="640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772400" y="1828800"/>
            <a:ext cx="1828800" cy="73152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Worker Thread 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1188720"/>
            <a:ext cx="4114800" cy="640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3200400"/>
            <a:ext cx="1828800" cy="731520"/>
          </a:xfrm>
          <a:prstGeom prst="roundRect">
            <a:avLst/>
          </a:prstGeom>
          <a:solidFill>
            <a:srgbClr val="FFDC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CPU 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28800" y="2560320"/>
            <a:ext cx="0" cy="640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200400" y="3200400"/>
            <a:ext cx="1828800" cy="731520"/>
          </a:xfrm>
          <a:prstGeom prst="roundRect">
            <a:avLst/>
          </a:prstGeom>
          <a:solidFill>
            <a:srgbClr val="FFDC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CPU 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0" y="2560320"/>
            <a:ext cx="0" cy="640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0" y="3200400"/>
            <a:ext cx="1828800" cy="731520"/>
          </a:xfrm>
          <a:prstGeom prst="roundRect">
            <a:avLst/>
          </a:prstGeom>
          <a:solidFill>
            <a:srgbClr val="FFDC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CPU 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0" y="2560320"/>
            <a:ext cx="0" cy="640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0" y="3200400"/>
            <a:ext cx="1828800" cy="731520"/>
          </a:xfrm>
          <a:prstGeom prst="roundRect">
            <a:avLst/>
          </a:prstGeom>
          <a:solidFill>
            <a:srgbClr val="FFDC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CPU 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0" y="2560320"/>
            <a:ext cx="0" cy="640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Diagrama: Paralelismo Horizontal (C# Orchestrator)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457200"/>
            <a:ext cx="2743200" cy="731520"/>
          </a:xfrm>
          <a:prstGeom prst="roundRect">
            <a:avLst/>
          </a:prstGeom>
          <a:solidFill>
            <a:srgbClr val="B4C8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C# Orchestrator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828800" cy="73152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Task 1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1828800" y="1188720"/>
            <a:ext cx="2743200" cy="640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0" y="1828800"/>
            <a:ext cx="1828800" cy="73152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Task 2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4114800" y="1188720"/>
            <a:ext cx="457200" cy="640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0" y="1828800"/>
            <a:ext cx="1828800" cy="73152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Task 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1188720"/>
            <a:ext cx="1828800" cy="640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772400" y="1828800"/>
            <a:ext cx="1828800" cy="73152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Task 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1188720"/>
            <a:ext cx="4114800" cy="640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3200400"/>
            <a:ext cx="1828800" cy="731520"/>
          </a:xfrm>
          <a:prstGeom prst="roundRect">
            <a:avLst/>
          </a:prstGeom>
          <a:solidFill>
            <a:srgbClr val="FFF0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SQL Server 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28800" y="2560320"/>
            <a:ext cx="0" cy="640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200400" y="3200400"/>
            <a:ext cx="1828800" cy="731520"/>
          </a:xfrm>
          <a:prstGeom prst="roundRect">
            <a:avLst/>
          </a:prstGeom>
          <a:solidFill>
            <a:srgbClr val="FFF0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SQL Server 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0" y="2560320"/>
            <a:ext cx="0" cy="640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0" y="3200400"/>
            <a:ext cx="1828800" cy="731520"/>
          </a:xfrm>
          <a:prstGeom prst="roundRect">
            <a:avLst/>
          </a:prstGeom>
          <a:solidFill>
            <a:srgbClr val="FFF0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SQL Server 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0" y="2560320"/>
            <a:ext cx="0" cy="640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0" y="3200400"/>
            <a:ext cx="1828800" cy="731520"/>
          </a:xfrm>
          <a:prstGeom prst="roundRect">
            <a:avLst/>
          </a:prstGeom>
          <a:solidFill>
            <a:srgbClr val="FFF0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SQL Server 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0" y="2560320"/>
            <a:ext cx="0" cy="640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Diagrama: Paralelismo Combinado (Producción)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274320"/>
            <a:ext cx="2743200" cy="640080"/>
          </a:xfrm>
          <a:prstGeom prst="roundRect">
            <a:avLst/>
          </a:prstGeom>
          <a:solidFill>
            <a:srgbClr val="B4C8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Orchestrator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2011680" cy="64008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Task 1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1920240" y="914400"/>
            <a:ext cx="2651760" cy="4572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0" y="1371600"/>
            <a:ext cx="2011680" cy="64008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Task 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914400"/>
            <a:ext cx="91440" cy="4572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0" y="1371600"/>
            <a:ext cx="2011680" cy="64008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Task 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914400"/>
            <a:ext cx="2834640" cy="4572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2468880"/>
            <a:ext cx="2011680" cy="640080"/>
          </a:xfrm>
          <a:prstGeom prst="roundRect">
            <a:avLst/>
          </a:prstGeom>
          <a:solidFill>
            <a:srgbClr val="FFF0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SQL Server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2011680"/>
            <a:ext cx="0" cy="4572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57600" y="2468880"/>
            <a:ext cx="2011680" cy="640080"/>
          </a:xfrm>
          <a:prstGeom prst="roundRect">
            <a:avLst/>
          </a:prstGeom>
          <a:solidFill>
            <a:srgbClr val="FFF0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SQL Server 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63440" y="2011680"/>
            <a:ext cx="0" cy="4572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0" y="2468880"/>
            <a:ext cx="2011680" cy="640080"/>
          </a:xfrm>
          <a:prstGeom prst="roundRect">
            <a:avLst/>
          </a:prstGeom>
          <a:solidFill>
            <a:srgbClr val="FFF0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SQL Server 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06640" y="2011680"/>
            <a:ext cx="0" cy="4572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3566160"/>
            <a:ext cx="1005840" cy="54864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Worker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417320" y="3108960"/>
            <a:ext cx="502920" cy="4572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" y="4389120"/>
            <a:ext cx="1005840" cy="548640"/>
          </a:xfrm>
          <a:prstGeom prst="roundRect">
            <a:avLst/>
          </a:prstGeom>
          <a:solidFill>
            <a:srgbClr val="FFDC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CPU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17320" y="4114800"/>
            <a:ext cx="0" cy="27432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920240" y="3566160"/>
            <a:ext cx="1005840" cy="54864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Worker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20240" y="3108960"/>
            <a:ext cx="502920" cy="4572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920240" y="4389120"/>
            <a:ext cx="1005840" cy="548640"/>
          </a:xfrm>
          <a:prstGeom prst="roundRect">
            <a:avLst/>
          </a:prstGeom>
          <a:solidFill>
            <a:srgbClr val="FFDC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CPU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23160" y="4114800"/>
            <a:ext cx="0" cy="27432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657600" y="3566160"/>
            <a:ext cx="1005840" cy="54864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Worker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4160520" y="3108960"/>
            <a:ext cx="502920" cy="4572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657600" y="4389120"/>
            <a:ext cx="1005840" cy="548640"/>
          </a:xfrm>
          <a:prstGeom prst="roundRect">
            <a:avLst/>
          </a:prstGeom>
          <a:solidFill>
            <a:srgbClr val="FFDC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CPU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160520" y="4114800"/>
            <a:ext cx="0" cy="27432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663440" y="3566160"/>
            <a:ext cx="1005840" cy="54864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Worker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663440" y="3108960"/>
            <a:ext cx="502920" cy="4572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663440" y="4389120"/>
            <a:ext cx="1005840" cy="548640"/>
          </a:xfrm>
          <a:prstGeom prst="roundRect">
            <a:avLst/>
          </a:prstGeom>
          <a:solidFill>
            <a:srgbClr val="FFDC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CPU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166360" y="4114800"/>
            <a:ext cx="0" cy="27432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400800" y="3566160"/>
            <a:ext cx="1005840" cy="54864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Worker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6903720" y="3108960"/>
            <a:ext cx="502920" cy="4572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400800" y="4389120"/>
            <a:ext cx="1005840" cy="548640"/>
          </a:xfrm>
          <a:prstGeom prst="roundRect">
            <a:avLst/>
          </a:prstGeom>
          <a:solidFill>
            <a:srgbClr val="FFDC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CPU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903720" y="4114800"/>
            <a:ext cx="0" cy="27432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406640" y="3566160"/>
            <a:ext cx="1005840" cy="54864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Worker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406640" y="3108960"/>
            <a:ext cx="502920" cy="4572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406640" y="4389120"/>
            <a:ext cx="1005840" cy="548640"/>
          </a:xfrm>
          <a:prstGeom prst="roundRect">
            <a:avLst/>
          </a:prstGeom>
          <a:solidFill>
            <a:srgbClr val="FFDC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CPU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909560" y="4114800"/>
            <a:ext cx="0" cy="27432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Diagrama: Execution Plan con Paralelismo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457200"/>
            <a:ext cx="2743200" cy="822960"/>
          </a:xfrm>
          <a:prstGeom prst="roundRect">
            <a:avLst/>
          </a:prstGeom>
          <a:solidFill>
            <a:srgbClr val="C8FF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SELECT</a:t>
            </a:r>
          </a:p>
          <a:p>
            <a:r>
              <a:t>Cost: 45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828800"/>
            <a:ext cx="2743200" cy="82296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Parallelism</a:t>
            </a:r>
          </a:p>
          <a:p>
            <a:r>
              <a:t>(Repartition Streams)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200400"/>
            <a:ext cx="2743200" cy="82296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Index Scan</a:t>
            </a:r>
          </a:p>
          <a:p>
            <a:r>
              <a:t>Cost: 30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1280160"/>
            <a:ext cx="0" cy="54864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2651760"/>
            <a:ext cx="0" cy="54864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Buenas prácticas finales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Controlar MAXDOP en SQL Server</a:t>
            </a:r>
          </a:p>
          <a:p>
            <a:pPr/>
            <a:r>
              <a:t>Controlar MaxDegreeOfParallelism en C#</a:t>
            </a:r>
          </a:p>
          <a:p>
            <a:pPr/>
            <a:r>
              <a:t>Evitar saturación de CPU</a:t>
            </a:r>
          </a:p>
          <a:p>
            <a:pPr/>
            <a:r>
              <a:t>Monitorear Execution Plans</a:t>
            </a:r>
          </a:p>
          <a:p>
            <a:pPr/>
            <a:r>
              <a:t>Optimizar queries e índices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